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5"/>
  </p:notesMasterIdLst>
  <p:handoutMasterIdLst>
    <p:handoutMasterId r:id="rId11"/>
  </p:handoutMasterIdLst>
  <p:sldIdLst>
    <p:sldId id="257" r:id="rId4"/>
    <p:sldId id="260" r:id="rId6"/>
    <p:sldId id="265" r:id="rId7"/>
    <p:sldId id="258" r:id="rId8"/>
    <p:sldId id="266" r:id="rId9"/>
    <p:sldId id="263" r:id="rId1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8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08000"/>
    <a:srgbClr val="F0F3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21" autoAdjust="0"/>
    <p:restoredTop sz="94624" autoAdjust="0"/>
  </p:normalViewPr>
  <p:slideViewPr>
    <p:cSldViewPr showGuides="1">
      <p:cViewPr varScale="1">
        <p:scale>
          <a:sx n="91" d="100"/>
          <a:sy n="91" d="100"/>
        </p:scale>
        <p:origin x="1229" y="58"/>
      </p:cViewPr>
      <p:guideLst>
        <p:guide orient="horz" pos="2185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08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r>
              <a:rPr lang="en-IN"/>
              <a:t>qqqq</a:t>
            </a:r>
            <a:endParaRPr lang="en-IN"/>
          </a:p>
        </p:txBody>
      </p:sp>
      <p:sp>
        <p:nvSpPr>
          <p:cNvPr id="1048740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fld id="{94D17400-D2F0-4C10-8ABB-4C86DD70BD66}" type="datetimeFigureOut">
              <a:rPr lang="en-IN"/>
            </a:fld>
            <a:endParaRPr lang="en-IN"/>
          </a:p>
        </p:txBody>
      </p:sp>
      <p:sp>
        <p:nvSpPr>
          <p:cNvPr id="1048741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endParaRPr lang="en-IN"/>
          </a:p>
        </p:txBody>
      </p:sp>
      <p:sp>
        <p:nvSpPr>
          <p:cNvPr id="1048742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E2AA1CC1-38E2-4127-8F4A-1209455D4BCD}" type="slidenum">
              <a:rPr lang="en-IN" altLang="en-US"/>
            </a:fld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3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r>
              <a:rPr lang="en-IN"/>
              <a:t>qqqq</a:t>
            </a:r>
            <a:endParaRPr lang="en-IN"/>
          </a:p>
        </p:txBody>
      </p:sp>
      <p:sp>
        <p:nvSpPr>
          <p:cNvPr id="1048734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fld id="{88E0EEB1-3026-4428-A684-CCCF097939C3}" type="datetimeFigureOut">
              <a:rPr lang="en-IN"/>
            </a:fld>
            <a:endParaRPr lang="en-IN"/>
          </a:p>
        </p:txBody>
      </p:sp>
      <p:sp>
        <p:nvSpPr>
          <p:cNvPr id="1048735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p>
            <a:pPr lvl="0"/>
            <a:endParaRPr lang="en-IN" noProof="0"/>
          </a:p>
        </p:txBody>
      </p:sp>
      <p:sp>
        <p:nvSpPr>
          <p:cNvPr id="1048736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IN" noProof="0"/>
          </a:p>
        </p:txBody>
      </p:sp>
      <p:sp>
        <p:nvSpPr>
          <p:cNvPr id="1048737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endParaRPr lang="en-IN"/>
          </a:p>
        </p:txBody>
      </p:sp>
      <p:sp>
        <p:nvSpPr>
          <p:cNvPr id="1048738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E5F9A4B8-CACF-4E5F-8BBB-D0CDBB9C6BC4}" type="slidenum">
              <a:rPr lang="en-IN" altLang="en-US"/>
            </a:fld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Text Box 2"/>
          <p:cNvSpPr txBox="1">
            <a:spLocks noChangeArrowheads="1"/>
          </p:cNvSpPr>
          <p:nvPr/>
        </p:nvSpPr>
        <p:spPr bwMode="auto">
          <a:xfrm>
            <a:off x="1003300" y="695325"/>
            <a:ext cx="4848225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1048595" name="Rectangle 3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4813" cy="4114800"/>
          </a:xfrm>
          <a:noFill/>
        </p:spPr>
        <p:txBody>
          <a:bodyPr wrap="none" numCol="1" anchor="ctr" anchorCtr="0" compatLnSpc="1"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048596" name="Header Placeholder 1"/>
          <p:cNvSpPr>
            <a:spLocks noGrp="1"/>
          </p:cNvSpPr>
          <p:nvPr>
            <p:ph type="hdr" sz="quarter"/>
          </p:nvPr>
        </p:nvSpPr>
        <p:spPr bwMode="auto"/>
        <p:txBody>
          <a:bodyPr wrap="square" numCol="1" anchor="t" anchorCtr="0" compatLnSpc="1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IN" altLang="en-US"/>
              <a:t>qqqq</a:t>
            </a:r>
            <a:endParaRPr lang="en-I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6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8677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04867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76A5E8C-6C50-4E61-ABE9-4B14E9ECF1E2}" type="datetime1">
              <a:rPr lang="en-US"/>
            </a:fld>
            <a:endParaRPr lang="en-US"/>
          </a:p>
        </p:txBody>
      </p:sp>
      <p:sp>
        <p:nvSpPr>
          <p:cNvPr id="104867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PRPCEM, EE Department</a:t>
            </a:r>
            <a:endParaRPr lang="en-US"/>
          </a:p>
        </p:txBody>
      </p:sp>
      <p:sp>
        <p:nvSpPr>
          <p:cNvPr id="104868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26669DD-1890-4A85-B61B-8EDF597F9288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8582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E6ACEFF-EA77-4F67-9B89-E797B095512A}" type="datetime1">
              <a:rPr lang="en-US"/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PRPCEM, EE Department</a:t>
            </a:r>
            <a:endParaRPr lang="en-US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BF06F55-82FF-443B-989E-597F2A7D287A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5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8706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4870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B4107A2-D172-4969-847D-6C53798F1503}" type="datetime1">
              <a:rPr lang="en-US"/>
            </a:fld>
            <a:endParaRPr lang="en-US"/>
          </a:p>
        </p:txBody>
      </p:sp>
      <p:sp>
        <p:nvSpPr>
          <p:cNvPr id="104870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PRPCEM, EE Department</a:t>
            </a:r>
            <a:endParaRPr lang="en-US"/>
          </a:p>
        </p:txBody>
      </p:sp>
      <p:sp>
        <p:nvSpPr>
          <p:cNvPr id="104870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0951F27-805A-473C-A86E-2B5C2ABD89F8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8711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8712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871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84BB8F9-EBA7-45E7-A0ED-C3B9EBF6E62F}" type="datetime1">
              <a:rPr lang="en-US"/>
            </a:fld>
            <a:endParaRPr lang="en-US"/>
          </a:p>
        </p:txBody>
      </p:sp>
      <p:sp>
        <p:nvSpPr>
          <p:cNvPr id="104871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PRPCEM, EE Department</a:t>
            </a:r>
            <a:endParaRPr lang="en-US"/>
          </a:p>
        </p:txBody>
      </p:sp>
      <p:sp>
        <p:nvSpPr>
          <p:cNvPr id="104871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020EB0A-C3CA-481A-833D-1C45BA2CD770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871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48718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871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48720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872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A6AE9BF-A357-4EA7-A0E0-1A5AD2C9F2FC}" type="datetime1">
              <a:rPr lang="en-US"/>
            </a:fld>
            <a:endParaRPr lang="en-US"/>
          </a:p>
        </p:txBody>
      </p:sp>
      <p:sp>
        <p:nvSpPr>
          <p:cNvPr id="104872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PRPCEM, EE Department</a:t>
            </a:r>
            <a:endParaRPr lang="en-US"/>
          </a:p>
        </p:txBody>
      </p:sp>
      <p:sp>
        <p:nvSpPr>
          <p:cNvPr id="104872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602C7A0-63CA-4482-8ACE-F21D87244385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868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1413CEA-A095-4BB4-B668-7CB050FF1011}" type="datetime1">
              <a:rPr lang="en-US"/>
            </a:fld>
            <a:endParaRPr lang="en-US"/>
          </a:p>
        </p:txBody>
      </p:sp>
      <p:sp>
        <p:nvSpPr>
          <p:cNvPr id="104868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PRPCEM, EE Department</a:t>
            </a:r>
            <a:endParaRPr lang="en-US"/>
          </a:p>
        </p:txBody>
      </p:sp>
      <p:sp>
        <p:nvSpPr>
          <p:cNvPr id="104868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C85AB1F-CA46-4203-8100-5C0F25703DD5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F92309D-96EA-41B8-8EFA-D0666EA299D9}" type="datetime1">
              <a:rPr lang="en-US"/>
            </a:fld>
            <a:endParaRPr lang="en-US"/>
          </a:p>
        </p:txBody>
      </p:sp>
      <p:sp>
        <p:nvSpPr>
          <p:cNvPr id="104872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PRPCEM, EE Department</a:t>
            </a:r>
            <a:endParaRPr lang="en-US"/>
          </a:p>
        </p:txBody>
      </p:sp>
      <p:sp>
        <p:nvSpPr>
          <p:cNvPr id="104872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29FB5D7-44F3-4BE9-BDE3-34C74F0C1406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7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8728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8729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4873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05C2AF7-054C-47BD-B594-D703EDD22B22}" type="datetime1">
              <a:rPr lang="en-US"/>
            </a:fld>
            <a:endParaRPr lang="en-US"/>
          </a:p>
        </p:txBody>
      </p:sp>
      <p:sp>
        <p:nvSpPr>
          <p:cNvPr id="104873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PRPCEM, EE Department</a:t>
            </a:r>
            <a:endParaRPr lang="en-US"/>
          </a:p>
        </p:txBody>
      </p:sp>
      <p:sp>
        <p:nvSpPr>
          <p:cNvPr id="104873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E0253BF-9AB0-42B1-897F-0041E2FA86C7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5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8696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1048697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4869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5CCB7ED-683B-4467-9B73-7CDEFF9733C9}" type="datetime1">
              <a:rPr lang="en-US"/>
            </a:fld>
            <a:endParaRPr lang="en-US"/>
          </a:p>
        </p:txBody>
      </p:sp>
      <p:sp>
        <p:nvSpPr>
          <p:cNvPr id="104869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PRPCEM, EE Department</a:t>
            </a:r>
            <a:endParaRPr lang="en-US"/>
          </a:p>
        </p:txBody>
      </p:sp>
      <p:sp>
        <p:nvSpPr>
          <p:cNvPr id="104870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11B3654-8CA0-4F0B-A277-5DD9C25F1FE8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870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852CA08-1DAB-494E-90A4-88588F47509D}" type="datetime1">
              <a:rPr lang="en-US"/>
            </a:fld>
            <a:endParaRPr lang="en-US"/>
          </a:p>
        </p:txBody>
      </p:sp>
      <p:sp>
        <p:nvSpPr>
          <p:cNvPr id="104870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PRPCEM, EE Department</a:t>
            </a:r>
            <a:endParaRPr lang="en-US"/>
          </a:p>
        </p:txBody>
      </p:sp>
      <p:sp>
        <p:nvSpPr>
          <p:cNvPr id="104870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918CED9-B002-43BD-A7AE-7D6A8C31A2E5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8691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869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00B2BC8-23B8-4950-8685-5F509052CF31}" type="datetime1">
              <a:rPr lang="en-US"/>
            </a:fld>
            <a:endParaRPr lang="en-US"/>
          </a:p>
        </p:txBody>
      </p:sp>
      <p:sp>
        <p:nvSpPr>
          <p:cNvPr id="104869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PRPCEM, EE Department</a:t>
            </a:r>
            <a:endParaRPr lang="en-US"/>
          </a:p>
        </p:txBody>
      </p:sp>
      <p:sp>
        <p:nvSpPr>
          <p:cNvPr id="104869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B89B47A-D44D-4AAC-B693-70E376DE56D9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5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8686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868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616EA27-6603-41A4-A810-E3BFC9388937}" type="datetime1">
              <a:rPr lang="en-US"/>
            </a:fld>
            <a:endParaRPr lang="en-US"/>
          </a:p>
        </p:txBody>
      </p:sp>
      <p:sp>
        <p:nvSpPr>
          <p:cNvPr id="104868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PRPCEM, EE Department</a:t>
            </a:r>
            <a:endParaRPr lang="en-US"/>
          </a:p>
        </p:txBody>
      </p:sp>
      <p:sp>
        <p:nvSpPr>
          <p:cNvPr id="104868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0BEDBAF-F753-4C8A-AFFB-1D9C77CEDD75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862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04862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CF3255E-8547-4E92-BB0A-9B2F096631CE}" type="datetimeFigureOut">
              <a:rPr lang="en-US"/>
            </a:fld>
            <a:endParaRPr lang="en-US"/>
          </a:p>
        </p:txBody>
      </p:sp>
      <p:sp>
        <p:nvSpPr>
          <p:cNvPr id="104862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8426419-F56A-447C-AA9D-E6673203EE57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8655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865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CF3255E-8547-4E92-BB0A-9B2F096631CE}" type="datetimeFigureOut">
              <a:rPr lang="en-US"/>
            </a:fld>
            <a:endParaRPr lang="en-US"/>
          </a:p>
        </p:txBody>
      </p:sp>
      <p:sp>
        <p:nvSpPr>
          <p:cNvPr id="104865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07B46E8-86C6-48EF-8830-5A6E9206189B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8650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4865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CF3255E-8547-4E92-BB0A-9B2F096631CE}" type="datetimeFigureOut">
              <a:rPr lang="en-US"/>
            </a:fld>
            <a:endParaRPr lang="en-US"/>
          </a:p>
        </p:txBody>
      </p:sp>
      <p:sp>
        <p:nvSpPr>
          <p:cNvPr id="104865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35A5248-59AC-43ED-8476-9FB7BACAE13B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8671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8672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867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CF3255E-8547-4E92-BB0A-9B2F096631CE}" type="datetimeFigureOut">
              <a:rPr lang="en-US"/>
            </a:fld>
            <a:endParaRPr lang="en-US"/>
          </a:p>
        </p:txBody>
      </p:sp>
      <p:sp>
        <p:nvSpPr>
          <p:cNvPr id="104867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7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4E57B9D-F1E0-44A7-9E84-38402A14F296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866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4866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866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4866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866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CF3255E-8547-4E92-BB0A-9B2F096631CE}" type="datetimeFigureOut">
              <a:rPr lang="en-US"/>
            </a:fld>
            <a:endParaRPr lang="en-US"/>
          </a:p>
        </p:txBody>
      </p:sp>
      <p:sp>
        <p:nvSpPr>
          <p:cNvPr id="104866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6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E887F34-9AA4-4C99-8EF0-7B64D32BEF54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861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CF3255E-8547-4E92-BB0A-9B2F096631CE}" type="datetimeFigureOut">
              <a:rPr lang="en-US"/>
            </a:fld>
            <a:endParaRPr lang="en-US"/>
          </a:p>
        </p:txBody>
      </p:sp>
      <p:sp>
        <p:nvSpPr>
          <p:cNvPr id="104862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D89724B-CE6B-49AD-AE27-B953B0853228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CF3255E-8547-4E92-BB0A-9B2F096631CE}" type="datetimeFigureOut">
              <a:rPr lang="en-US"/>
            </a:fld>
            <a:endParaRPr lang="en-US"/>
          </a:p>
        </p:txBody>
      </p:sp>
      <p:sp>
        <p:nvSpPr>
          <p:cNvPr id="104866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6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405CBCA-3D3B-461E-B523-B668BAC5120C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863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863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4863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CF3255E-8547-4E92-BB0A-9B2F096631CE}" type="datetimeFigureOut">
              <a:rPr lang="en-US"/>
            </a:fld>
            <a:endParaRPr lang="en-US"/>
          </a:p>
        </p:txBody>
      </p:sp>
      <p:sp>
        <p:nvSpPr>
          <p:cNvPr id="104863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F5D4574-7636-431C-BF8B-BB62F3E830A1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8639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104864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4864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CF3255E-8547-4E92-BB0A-9B2F096631CE}" type="datetimeFigureOut">
              <a:rPr lang="en-US"/>
            </a:fld>
            <a:endParaRPr lang="en-US"/>
          </a:p>
        </p:txBody>
      </p:sp>
      <p:sp>
        <p:nvSpPr>
          <p:cNvPr id="104864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595AFEB-0C75-42AC-8942-0168B6E69B6E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8645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864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CF3255E-8547-4E92-BB0A-9B2F096631CE}" type="datetimeFigureOut">
              <a:rPr lang="en-US"/>
            </a:fld>
            <a:endParaRPr lang="en-US"/>
          </a:p>
        </p:txBody>
      </p:sp>
      <p:sp>
        <p:nvSpPr>
          <p:cNvPr id="104864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996E53C-F8CE-4322-9153-C17F5075328F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8628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862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CF3255E-8547-4E92-BB0A-9B2F096631CE}" type="datetimeFigureOut">
              <a:rPr lang="en-US"/>
            </a:fld>
            <a:endParaRPr lang="en-US"/>
          </a:p>
        </p:txBody>
      </p:sp>
      <p:sp>
        <p:nvSpPr>
          <p:cNvPr id="104863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B60BF8F-B3A3-48B1-BB49-23F424C4263C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US" alt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fld id="{3AD357AE-895C-4E7E-BCE7-8F78DBF2EA94}" type="datetime1">
              <a:rPr lang="en-US"/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PRPCEM, EE Department</a:t>
            </a:r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C71AD6D6-0288-40D4-8574-14C38F6C827E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104861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US" altLang="en-US"/>
          </a:p>
        </p:txBody>
      </p:sp>
      <p:sp>
        <p:nvSpPr>
          <p:cNvPr id="1048615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fld id="{1CF3255E-8547-4E92-BB0A-9B2F096631CE}" type="datetimeFigureOut">
              <a:rPr lang="en-US"/>
            </a:fld>
            <a:endParaRPr lang="en-US"/>
          </a:p>
        </p:txBody>
      </p:sp>
      <p:sp>
        <p:nvSpPr>
          <p:cNvPr id="104861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04861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09B293F8-1855-4572-9CB2-9B1ED2CEA0C2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Title 4"/>
          <p:cNvSpPr>
            <a:spLocks noGrp="1"/>
          </p:cNvSpPr>
          <p:nvPr>
            <p:ph type="title"/>
          </p:nvPr>
        </p:nvSpPr>
        <p:spPr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50000"/>
              </a:schemeClr>
            </a:solidFill>
            <a:miter lim="800000"/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txBody>
          <a:bodyPr rtlCol="0" anchor="b">
            <a:noAutofit/>
          </a:bodyPr>
          <a:p>
            <a:pPr eaLnBrk="1" fontAlgn="auto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b="1" dirty="0">
                <a:solidFill>
                  <a:schemeClr val="tx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P. R. Pote (Patil) College of Engineering &amp; Management, Amravati</a:t>
            </a:r>
            <a:br>
              <a:rPr lang="en-US" sz="1600" b="1" dirty="0">
                <a:solidFill>
                  <a:schemeClr val="tx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1600" b="1" dirty="0">
                <a:solidFill>
                  <a:schemeClr val="tx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(An Autonomous Institute)</a:t>
            </a:r>
            <a:br>
              <a:rPr lang="en-US" sz="1600" b="1" dirty="0">
                <a:solidFill>
                  <a:schemeClr val="accent5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16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Department of Artificial Intelligence and Data Science</a:t>
            </a:r>
            <a:endParaRPr lang="en-US" sz="1600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097152" name="Content Placeholder 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81000" y="228600"/>
            <a:ext cx="885825" cy="838200"/>
          </a:xfrm>
          <a:prstGeom prst="ellipse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48587" name="AutoShape 9" descr="Baselius College |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048588" name="AutoShape 11" descr="Baselius College |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pic>
        <p:nvPicPr>
          <p:cNvPr id="2097153" name="Picture 1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96200" y="304800"/>
            <a:ext cx="1004888" cy="838200"/>
          </a:xfrm>
          <a:prstGeom prst="ellipse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97154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90963" y="4876800"/>
            <a:ext cx="1362075" cy="135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9" name="TextBox 3"/>
          <p:cNvSpPr txBox="1">
            <a:spLocks noChangeArrowheads="1"/>
          </p:cNvSpPr>
          <p:nvPr/>
        </p:nvSpPr>
        <p:spPr bwMode="auto">
          <a:xfrm>
            <a:off x="1865312" y="1981200"/>
            <a:ext cx="5907087" cy="52197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AI-Powered Fitness Website (FitVerse)</a:t>
            </a:r>
            <a:endParaRPr lang="en-US" altLang="en-US" sz="280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0" name="TextBox 11"/>
          <p:cNvSpPr txBox="1">
            <a:spLocks noChangeArrowheads="1"/>
          </p:cNvSpPr>
          <p:nvPr/>
        </p:nvSpPr>
        <p:spPr bwMode="auto">
          <a:xfrm>
            <a:off x="3335338" y="1420813"/>
            <a:ext cx="2133600" cy="3683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>
                <a:latin typeface="Cambria" panose="02040503050406030204" pitchFamily="18" charset="0"/>
              </a:rPr>
              <a:t>Presentation on</a:t>
            </a:r>
            <a:endParaRPr lang="en-US" altLang="en-US">
              <a:latin typeface="Cambria" panose="02040503050406030204" pitchFamily="18" charset="0"/>
            </a:endParaRPr>
          </a:p>
        </p:txBody>
      </p:sp>
      <p:sp>
        <p:nvSpPr>
          <p:cNvPr id="1048591" name="TextBox 12"/>
          <p:cNvSpPr txBox="1">
            <a:spLocks noChangeArrowheads="1"/>
          </p:cNvSpPr>
          <p:nvPr/>
        </p:nvSpPr>
        <p:spPr bwMode="auto">
          <a:xfrm>
            <a:off x="1817188" y="2673984"/>
            <a:ext cx="5444332" cy="1198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800" dirty="0">
                <a:solidFill>
                  <a:srgbClr val="0070C0"/>
                </a:solidFill>
                <a:latin typeface="Cambria" panose="02040503050406030204" pitchFamily="18" charset="0"/>
              </a:rPr>
              <a:t>Presented By</a:t>
            </a:r>
            <a:endParaRPr lang="en-US" altLang="en-US" sz="1800" dirty="0">
              <a:solidFill>
                <a:srgbClr val="0070C0"/>
              </a:solidFill>
              <a:latin typeface="Cambria" panose="02040503050406030204" pitchFamily="18" charset="0"/>
            </a:endParaRPr>
          </a:p>
          <a:p>
            <a:pPr algn="ctr"/>
            <a:r>
              <a:rPr lang="en-IN" sz="180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Aditya Hire (L)</a:t>
            </a:r>
            <a:endParaRPr lang="en-IN" sz="1800" i="0" dirty="0">
              <a:solidFill>
                <a:srgbClr val="4040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Aman Kokate                   Kasturi Bhogal</a:t>
            </a:r>
            <a:endParaRPr lang="en-IN" sz="1800" i="0" dirty="0">
              <a:solidFill>
                <a:srgbClr val="4040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sz="180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Dnyaneshwari Bhagat</a:t>
            </a:r>
            <a:r>
              <a:rPr lang="en-IN" altLang="en-US" sz="180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Nikhil Ingale  </a:t>
            </a:r>
            <a:endParaRPr lang="en-IN" altLang="en-US" sz="1800" i="0" dirty="0">
              <a:solidFill>
                <a:srgbClr val="4040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2" name="TextBox 13"/>
          <p:cNvSpPr txBox="1">
            <a:spLocks noChangeArrowheads="1"/>
          </p:cNvSpPr>
          <p:nvPr/>
        </p:nvSpPr>
        <p:spPr bwMode="auto">
          <a:xfrm>
            <a:off x="3271838" y="3867150"/>
            <a:ext cx="2366962" cy="64516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b="1" dirty="0">
                <a:solidFill>
                  <a:schemeClr val="accent1"/>
                </a:solidFill>
                <a:latin typeface="Cambria" panose="02040503050406030204" pitchFamily="18" charset="0"/>
              </a:rPr>
              <a:t>Guided By</a:t>
            </a:r>
            <a:endParaRPr lang="en-US" altLang="en-US" b="1" dirty="0">
              <a:solidFill>
                <a:schemeClr val="accent1"/>
              </a:solidFill>
              <a:latin typeface="Cambria" panose="02040503050406030204" pitchFamily="18" charset="0"/>
            </a:endParaRPr>
          </a:p>
          <a:p>
            <a:pPr algn="ctr"/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 S. D. Garle</a:t>
            </a: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3" name="TextBox 6"/>
          <p:cNvSpPr txBox="1">
            <a:spLocks noChangeArrowheads="1"/>
          </p:cNvSpPr>
          <p:nvPr/>
        </p:nvSpPr>
        <p:spPr bwMode="auto">
          <a:xfrm>
            <a:off x="3583781" y="6348913"/>
            <a:ext cx="1976437" cy="3683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dirty="0">
                <a:latin typeface="Cambria" panose="02040503050406030204" pitchFamily="18" charset="0"/>
              </a:rPr>
              <a:t>Year 202</a:t>
            </a:r>
            <a:r>
              <a:rPr lang="en-IN" altLang="en-US" dirty="0">
                <a:latin typeface="Cambria" panose="02040503050406030204" pitchFamily="18" charset="0"/>
              </a:rPr>
              <a:t>5</a:t>
            </a:r>
            <a:r>
              <a:rPr lang="en-US" altLang="en-US" dirty="0">
                <a:latin typeface="Cambria" panose="02040503050406030204" pitchFamily="18" charset="0"/>
              </a:rPr>
              <a:t>-2</a:t>
            </a:r>
            <a:r>
              <a:rPr lang="en-IN" altLang="en-US" dirty="0">
                <a:latin typeface="Cambria" panose="02040503050406030204" pitchFamily="18" charset="0"/>
              </a:rPr>
              <a:t>6</a:t>
            </a:r>
            <a:endParaRPr lang="en-IN" altLang="en-US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6" name="Picture 13" descr="A picture containing text&#10;&#10;Description automatically generated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819400" y="2057400"/>
            <a:ext cx="3878263" cy="3986213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05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153400" cy="5334000"/>
          </a:xfrm>
          <a:ln>
            <a:solidFill>
              <a:schemeClr val="accent1"/>
            </a:solidFill>
          </a:ln>
        </p:spPr>
        <p:txBody>
          <a:bodyPr/>
          <a:p>
            <a:pPr eaLnBrk="1" hangingPunct="1"/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800" dirty="0">
                <a:cs typeface="Times New Roman" panose="02020603050405020304" pitchFamily="18" charset="0"/>
              </a:rPr>
              <a:t>To build an AI-powered, scalable fitness coaching platform that provides personalized workout routines, nutritional support, and real-time feedback through ML and AI technologies.</a:t>
            </a:r>
            <a:endParaRPr lang="en-IN" altLang="en-US" sz="2800" dirty="0">
              <a:cs typeface="Times New Roman" panose="02020603050405020304" pitchFamily="18" charset="0"/>
            </a:endParaRPr>
          </a:p>
          <a:p>
            <a:pPr eaLnBrk="1" hangingPunct="1"/>
            <a:endParaRPr lang="en-IN" altLang="en-US" sz="2800" dirty="0"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800" dirty="0">
                <a:cs typeface="Times New Roman" panose="02020603050405020304" pitchFamily="18" charset="0"/>
              </a:rPr>
              <a:t>To create a community-driven ecosystem where certified fitness coaches can manage clients, offer programs, and users can track progress with interactive tools.</a:t>
            </a:r>
            <a:endParaRPr lang="en-US" altLang="en-US" sz="2800" dirty="0">
              <a:cs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endParaRPr lang="en-US" altLang="en-US" sz="2800" dirty="0">
              <a:cs typeface="Times New Roman" panose="02020603050405020304" pitchFamily="18" charset="0"/>
            </a:endParaRPr>
          </a:p>
        </p:txBody>
      </p:sp>
      <p:sp>
        <p:nvSpPr>
          <p:cNvPr id="1048606" name="Title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8229600" cy="563563"/>
          </a:xfrm>
          <a:solidFill>
            <a:srgbClr val="002060"/>
          </a:solidFill>
        </p:spPr>
        <p:txBody>
          <a:bodyPr/>
          <a:p>
            <a:pPr eaLnBrk="1" hangingPunct="1"/>
            <a:r>
              <a:rPr lang="en-US" altLang="en-US" sz="32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AIM </a:t>
            </a:r>
            <a:r>
              <a:rPr lang="en-IN" altLang="en-US" sz="32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32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7" name="Footer Placeholder 3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492875"/>
            <a:ext cx="2895600" cy="365125"/>
          </a:xfrm>
          <a:solidFill>
            <a:schemeClr val="bg1"/>
          </a:solidFill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002060"/>
                </a:solidFill>
              </a:rPr>
              <a:t>AI &amp; DS Department , PRPCEM</a:t>
            </a:r>
            <a:endParaRPr lang="en-US" altLang="en-US" b="1" dirty="0">
              <a:solidFill>
                <a:srgbClr val="002060"/>
              </a:solidFill>
            </a:endParaRPr>
          </a:p>
        </p:txBody>
      </p:sp>
      <p:sp>
        <p:nvSpPr>
          <p:cNvPr id="1048608" name="Slide Number Placeholder 4"/>
          <p:cNvSpPr>
            <a:spLocks noGrp="1"/>
          </p:cNvSpPr>
          <p:nvPr>
            <p:ph type="sldNum" sz="quarter" idx="12"/>
          </p:nvPr>
        </p:nvSpPr>
        <p:spPr bwMode="auto">
          <a:xfrm>
            <a:off x="8305800" y="6492875"/>
            <a:ext cx="381000" cy="365125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b="1">
                <a:solidFill>
                  <a:srgbClr val="002060"/>
                </a:solidFill>
                <a:latin typeface="Calibri" panose="020F0502020204030204" pitchFamily="34" charset="0"/>
              </a:rPr>
              <a:t>3</a:t>
            </a:r>
            <a:endParaRPr lang="en-US" altLang="en-US" b="1">
              <a:solidFill>
                <a:srgbClr val="00206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6" name="Picture 13" descr="A picture containing text&#10;&#10;Description automatically generated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819400" y="2057400"/>
            <a:ext cx="3878263" cy="3986213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05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153400" cy="5334000"/>
          </a:xfrm>
          <a:ln>
            <a:solidFill>
              <a:schemeClr val="accent1"/>
            </a:solidFill>
          </a:ln>
        </p:spPr>
        <p:txBody>
          <a:bodyPr/>
          <a:p>
            <a:pPr eaLnBrk="1" hangingPunct="1"/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800" dirty="0">
                <a:cs typeface="Times New Roman" panose="02020603050405020304" pitchFamily="18" charset="0"/>
              </a:rPr>
              <a:t>Deliver personalized training recommendations using user data and machine learning.</a:t>
            </a:r>
            <a:endParaRPr lang="en-US" altLang="en-US" sz="2800" dirty="0"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800" dirty="0">
                <a:cs typeface="Times New Roman" panose="02020603050405020304" pitchFamily="18" charset="0"/>
              </a:rPr>
              <a:t>Integrate a food tracker with calorie analysis for diet planning.</a:t>
            </a:r>
            <a:endParaRPr lang="en-US" altLang="en-US" sz="2800" dirty="0"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800" dirty="0">
                <a:cs typeface="Times New Roman" panose="02020603050405020304" pitchFamily="18" charset="0"/>
              </a:rPr>
              <a:t>Implement AI-powered pose estimation to guide and evaluate exercise form in real-time.</a:t>
            </a:r>
            <a:endParaRPr lang="en-US" altLang="en-US" sz="2800" dirty="0"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800" dirty="0">
                <a:cs typeface="Times New Roman" panose="02020603050405020304" pitchFamily="18" charset="0"/>
              </a:rPr>
              <a:t>Build a coach-client ecosystem with subscription management and performance dashboards.</a:t>
            </a:r>
            <a:endParaRPr lang="en-US" altLang="en-US" sz="2800" dirty="0">
              <a:cs typeface="Times New Roman" panose="02020603050405020304" pitchFamily="18" charset="0"/>
            </a:endParaRPr>
          </a:p>
        </p:txBody>
      </p:sp>
      <p:sp>
        <p:nvSpPr>
          <p:cNvPr id="1048606" name="Title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8229600" cy="563563"/>
          </a:xfrm>
          <a:solidFill>
            <a:srgbClr val="002060"/>
          </a:solidFill>
        </p:spPr>
        <p:txBody>
          <a:bodyPr/>
          <a:p>
            <a:pPr eaLnBrk="1" hangingPunct="1"/>
            <a:r>
              <a:rPr lang="en-US" altLang="en-US" sz="32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</a:t>
            </a:r>
            <a:r>
              <a:rPr lang="en-IN" altLang="en-US" sz="32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32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7" name="Footer Placeholder 3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492875"/>
            <a:ext cx="2895600" cy="365125"/>
          </a:xfrm>
          <a:solidFill>
            <a:schemeClr val="bg1"/>
          </a:solidFill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002060"/>
                </a:solidFill>
              </a:rPr>
              <a:t>AI &amp; DS Department , PRPCEM</a:t>
            </a:r>
            <a:endParaRPr lang="en-US" altLang="en-US" b="1" dirty="0">
              <a:solidFill>
                <a:srgbClr val="002060"/>
              </a:solidFill>
            </a:endParaRPr>
          </a:p>
        </p:txBody>
      </p:sp>
      <p:sp>
        <p:nvSpPr>
          <p:cNvPr id="1048608" name="Slide Number Placeholder 4"/>
          <p:cNvSpPr>
            <a:spLocks noGrp="1"/>
          </p:cNvSpPr>
          <p:nvPr>
            <p:ph type="sldNum" sz="quarter" idx="12"/>
          </p:nvPr>
        </p:nvSpPr>
        <p:spPr bwMode="auto">
          <a:xfrm>
            <a:off x="8305800" y="6492875"/>
            <a:ext cx="381000" cy="365125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b="1">
                <a:solidFill>
                  <a:srgbClr val="002060"/>
                </a:solidFill>
                <a:latin typeface="Calibri" panose="020F0502020204030204" pitchFamily="34" charset="0"/>
              </a:rPr>
              <a:t>3</a:t>
            </a:r>
            <a:endParaRPr lang="en-US" altLang="en-US" b="1">
              <a:solidFill>
                <a:srgbClr val="00206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Content Placeholder 2"/>
          <p:cNvSpPr>
            <a:spLocks noGrp="1"/>
          </p:cNvSpPr>
          <p:nvPr>
            <p:ph idx="1"/>
          </p:nvPr>
        </p:nvSpPr>
        <p:spPr>
          <a:xfrm>
            <a:off x="466090" y="1062355"/>
            <a:ext cx="8220710" cy="5060950"/>
          </a:xfrm>
          <a:ln>
            <a:solidFill>
              <a:schemeClr val="accent1"/>
            </a:solidFill>
            <a:miter lim="800000"/>
          </a:ln>
        </p:spPr>
        <p:txBody>
          <a:bodyPr/>
          <a:p>
            <a:pPr marL="0" indent="0" algn="l">
              <a:spcAft>
                <a:spcPts val="300"/>
              </a:spcAft>
              <a:buNone/>
            </a:pPr>
            <a:r>
              <a:rPr lang="en-US" sz="2400" b="1" i="0" dirty="0">
                <a:solidFill>
                  <a:srgbClr val="404040"/>
                </a:solidFill>
                <a:effectLst/>
              </a:rPr>
              <a:t>Brief overview of the project:</a:t>
            </a:r>
            <a:endParaRPr lang="en-US" sz="2000" b="1" i="0" dirty="0">
              <a:solidFill>
                <a:srgbClr val="404040"/>
              </a:solidFill>
              <a:effectLst/>
            </a:endParaRP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altLang="en-US" sz="2000" b="0" i="0" dirty="0">
                <a:solidFill>
                  <a:srgbClr val="404040"/>
                </a:solidFill>
                <a:effectLst/>
                <a:cs typeface="+mn-lt"/>
              </a:rPr>
              <a:t>FitVerse is a full-stack AI-powered fitness coaching platform offering personalized training, nutritional tracking, and form correction through intelligent technology. Developed using Django (backend) and Tailwind CSS + JavaScript (frontend), it integrates machine learning for workout recommendations, food logging with calorie data, and AI pose estimation for exercise form feedback.</a:t>
            </a:r>
            <a:endParaRPr lang="en-US" altLang="en-US" sz="2000" b="0" i="0" dirty="0">
              <a:solidFill>
                <a:srgbClr val="404040"/>
              </a:solidFill>
              <a:effectLst/>
              <a:cs typeface="+mn-lt"/>
            </a:endParaRPr>
          </a:p>
          <a:p>
            <a:pPr marL="457200" lvl="1" indent="0" algn="l">
              <a:spcBef>
                <a:spcPts val="300"/>
              </a:spcBef>
              <a:buFont typeface="Arial" panose="020B0604020202020204" pitchFamily="34" charset="0"/>
              <a:buNone/>
            </a:pPr>
            <a:endParaRPr lang="en-US" altLang="en-US" sz="2000" b="0" i="0" dirty="0">
              <a:solidFill>
                <a:srgbClr val="404040"/>
              </a:solidFill>
              <a:effectLst/>
              <a:cs typeface="+mn-lt"/>
            </a:endParaRP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altLang="en-US" sz="2000" b="0" i="0" dirty="0">
                <a:solidFill>
                  <a:srgbClr val="404040"/>
                </a:solidFill>
                <a:effectLst/>
                <a:cs typeface="+mn-lt"/>
              </a:rPr>
              <a:t>The platform enables certified coaches to join and manage clients, while users benefit from interactive dashboards to track their fitness journey. FitVerse uses Stripe/Razorpay for secure subscriptions and is deployed via Railway with CI/CD automation through GitHub Actions. With less emphasis on chatbot support, the system focuses on visual tools, real-time corrections, and data analytics for an engaging and effective user experience.</a:t>
            </a:r>
            <a:endParaRPr lang="en-US" altLang="en-US" sz="2000" b="0" i="0" dirty="0">
              <a:solidFill>
                <a:srgbClr val="404040"/>
              </a:solidFill>
              <a:effectLst/>
              <a:cs typeface="+mn-lt"/>
            </a:endParaRPr>
          </a:p>
        </p:txBody>
      </p:sp>
      <p:sp>
        <p:nvSpPr>
          <p:cNvPr id="104859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356350"/>
            <a:ext cx="4419600" cy="501650"/>
          </a:xfrm>
        </p:spPr>
        <p:txBody>
          <a:bodyPr/>
          <a:p>
            <a:pPr algn="l"/>
            <a:r>
              <a:rPr lang="en-US" b="1" dirty="0">
                <a:solidFill>
                  <a:schemeClr val="tx1"/>
                </a:solidFill>
              </a:rPr>
              <a:t>AI&amp;DS Department, PRPCEM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048599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FE72880-C8B3-426E-80F7-74668DFA23DC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048600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  <a:solidFill>
            <a:srgbClr val="002060"/>
          </a:solidFill>
        </p:spPr>
        <p:txBody>
          <a:bodyPr/>
          <a:p>
            <a:pPr eaLnBrk="1" hangingPunct="1"/>
            <a:r>
              <a:rPr lang="en-US" altLang="en-US" sz="32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US" altLang="en-US" sz="32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858520"/>
          </a:xfrm>
        </p:spPr>
        <p:txBody>
          <a:bodyPr/>
          <a:p>
            <a:endParaRPr lang="en-US"/>
          </a:p>
        </p:txBody>
      </p:sp>
      <p:pic>
        <p:nvPicPr>
          <p:cNvPr id="7" name="Content Placeholder 6" descr="Idea _ Methodology (Brief) - visual selection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83870" y="1133475"/>
            <a:ext cx="8183880" cy="5183505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E6ACEFF-EA77-4F67-9B89-E797B095512A}" type="datetime1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PRPCEM, EE Department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BF06F55-82FF-443B-989E-597F2A7D287A}" type="slidenum">
              <a:rPr lang="en-US" altLang="en-US"/>
            </a:fld>
            <a:endParaRPr lang="en-US" altLang="en-US"/>
          </a:p>
        </p:txBody>
      </p:sp>
      <p:sp>
        <p:nvSpPr>
          <p:cNvPr id="1048609" name="Title 1"/>
          <p:cNvSpPr>
            <a:spLocks noGrp="1"/>
          </p:cNvSpPr>
          <p:nvPr/>
        </p:nvSpPr>
        <p:spPr>
          <a:xfrm>
            <a:off x="457200" y="274955"/>
            <a:ext cx="8229600" cy="85915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32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Idea / Methodology </a:t>
            </a:r>
            <a:endParaRPr lang="en-US" altLang="en-US" sz="32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5" name="Date Placeholder 104874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76A5E8C-6C50-4E61-ABE9-4B14E9ECF1E2}" type="datetime1">
              <a:rPr lang="en-US"/>
            </a:fld>
            <a:endParaRPr lang="en-US"/>
          </a:p>
        </p:txBody>
      </p:sp>
      <p:sp>
        <p:nvSpPr>
          <p:cNvPr id="1048746" name="Footer Placeholder 104874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PRPCEM, </a:t>
            </a:r>
            <a:r>
              <a:rPr lang="en-IN" altLang="en-US"/>
              <a:t>AI&amp;DS</a:t>
            </a:r>
            <a:r>
              <a:rPr lang="en-US"/>
              <a:t> Department</a:t>
            </a:r>
            <a:endParaRPr lang="en-US"/>
          </a:p>
        </p:txBody>
      </p:sp>
      <p:sp>
        <p:nvSpPr>
          <p:cNvPr id="1048747" name="Slide Number Placeholder 104874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26669DD-1890-4A85-B61B-8EDF597F9288}" type="slidenum">
              <a:rPr lang="en-US" altLang="en-US"/>
            </a:fld>
            <a:endParaRPr lang="en-US" altLang="en-US"/>
          </a:p>
        </p:txBody>
      </p:sp>
      <p:sp>
        <p:nvSpPr>
          <p:cNvPr id="1048749" name="Title 1"/>
          <p:cNvSpPr>
            <a:spLocks noGrp="1"/>
          </p:cNvSpPr>
          <p:nvPr/>
        </p:nvSpPr>
        <p:spPr>
          <a:xfrm>
            <a:off x="380999" y="413557"/>
            <a:ext cx="8229600" cy="803694"/>
          </a:xfrm>
          <a:prstGeom prst="rect">
            <a:avLst/>
          </a:prstGeom>
          <a:solidFill>
            <a:srgbClr val="002060"/>
          </a:solidFill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00"/>
                </a:solidFill>
                <a:latin typeface="Calibri" panose="020F050202020403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00"/>
                </a:solidFill>
                <a:latin typeface="Calibri" panose="020F050202020403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00"/>
                </a:solidFill>
                <a:latin typeface="Calibri" panose="020F050202020403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00"/>
                </a:solidFill>
                <a:latin typeface="Calibri" panose="020F050202020403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00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00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00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00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32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References / Research Papers </a:t>
            </a:r>
            <a:endParaRPr lang="zh-CN" altLang="en-US"/>
          </a:p>
        </p:txBody>
      </p:sp>
      <p:sp>
        <p:nvSpPr>
          <p:cNvPr id="1" name="Text Box 0"/>
          <p:cNvSpPr txBox="1"/>
          <p:nvPr/>
        </p:nvSpPr>
        <p:spPr>
          <a:xfrm>
            <a:off x="381000" y="1376680"/>
            <a:ext cx="8229600" cy="4909820"/>
          </a:xfrm>
          <a:prstGeom prst="rect">
            <a:avLst/>
          </a:prstGeom>
          <a:ln>
            <a:solidFill>
              <a:schemeClr val="tx2"/>
            </a:solidFill>
          </a:ln>
        </p:spPr>
        <p:txBody>
          <a:bodyPr>
            <a:noAutofit/>
          </a:bodyPr>
          <a:p>
            <a:pPr marL="342900" indent="-342900">
              <a:buAutoNum type="arabicPeriod"/>
            </a:pPr>
            <a:r>
              <a:rPr lang="en-US" altLang="en-US" sz="2400"/>
              <a:t>AI-Powered Fitness and Diet Recommendation System: A Personalized Approach to Health and Wellness</a:t>
            </a:r>
            <a:endParaRPr lang="en-US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1800"/>
              <a:t>Authors: Samita Bhandari, Surabhi G. Bansal, et al.</a:t>
            </a:r>
            <a:endParaRPr lang="en-US" alt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1800"/>
              <a:t>Published: IRJAEM, March 2025</a:t>
            </a:r>
            <a:endParaRPr lang="en-US" alt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1800"/>
              <a:t>Link: https://www.researchgate.net/publication/390046095</a:t>
            </a:r>
            <a:endParaRPr lang="en-US" alt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1800"/>
              <a:t>Use in FitVerse: Inspired the development of the personalized recommendation engine and AI coaching modules.</a:t>
            </a:r>
            <a:endParaRPr lang="en-US" altLang="en-US" sz="1800"/>
          </a:p>
          <a:p>
            <a:pPr marL="0" indent="0">
              <a:buFont typeface="Arial" panose="020B0604020202020204" pitchFamily="34" charset="0"/>
              <a:buNone/>
            </a:pPr>
            <a:endParaRPr lang="en-US" alt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1800"/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 sz="2400"/>
              <a:t>2. </a:t>
            </a:r>
            <a:r>
              <a:rPr lang="en-US" altLang="en-US" sz="2400"/>
              <a:t>A Framework for AI-based Fitness Tracking and</a:t>
            </a:r>
            <a:r>
              <a:rPr lang="en-IN" altLang="en-US" sz="2400"/>
              <a:t>       </a:t>
            </a:r>
            <a:endParaRPr lang="en-IN" altLang="en-US" sz="2400"/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 sz="2400"/>
              <a:t>    </a:t>
            </a:r>
            <a:r>
              <a:rPr lang="en-IN" altLang="en-US" sz="2400">
                <a:sym typeface="+mn-ea"/>
              </a:rPr>
              <a:t>C</a:t>
            </a:r>
            <a:r>
              <a:rPr lang="en-US" altLang="en-US" sz="2400">
                <a:sym typeface="+mn-ea"/>
              </a:rPr>
              <a:t>oaching Systems</a:t>
            </a:r>
            <a:r>
              <a:rPr lang="en-IN" altLang="en-US" sz="2400"/>
              <a:t>          </a:t>
            </a:r>
            <a:endParaRPr lang="en-US" alt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/>
              <a:t>Source: National Library of Medicine / PMC</a:t>
            </a:r>
            <a:endParaRPr lang="en-US" alt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/>
              <a:t>Link: https://pmc.ncbi.nlm.nih.gov/articles/PMC10955739/</a:t>
            </a:r>
            <a:endParaRPr lang="en-US" alt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/>
              <a:t>Use in FitVerse: Helped guide the integration of pose estimation and AI-based feedback loops for user exercise monitoring.</a:t>
            </a:r>
            <a:endParaRPr lang="en-US" altLang="en-US" sz="1800"/>
          </a:p>
          <a:p>
            <a:pPr marL="0" indent="0">
              <a:buFont typeface="+mj-lt"/>
              <a:buNone/>
            </a:pPr>
            <a:endParaRPr lang="en-IN" alt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2717</Words>
  <Application>WPS Presentation</Application>
  <PresentationFormat/>
  <Paragraphs>79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Arial</vt:lpstr>
      <vt:lpstr>SimSun</vt:lpstr>
      <vt:lpstr>Wingdings</vt:lpstr>
      <vt:lpstr>Calibri</vt:lpstr>
      <vt:lpstr>Cambria</vt:lpstr>
      <vt:lpstr>Times New Roman</vt:lpstr>
      <vt:lpstr>Microsoft YaHei</vt:lpstr>
      <vt:lpstr>Arial Unicode MS</vt:lpstr>
      <vt:lpstr>Office Theme</vt:lpstr>
      <vt:lpstr>Custom Design</vt:lpstr>
      <vt:lpstr>P. R. Pote (Patil) College of Engineering &amp; Management, Amravati (An Autonomous Institute) Department of Artificial Intelligence and Data Science</vt:lpstr>
      <vt:lpstr>AIM &amp;  Objectives  </vt:lpstr>
      <vt:lpstr>AIM &amp;  Objectives   </vt:lpstr>
      <vt:lpstr>Abstract</vt:lpstr>
      <vt:lpstr>Idea / Methodology 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P. R. Pote (Patil) College of Engineering &amp; Management, Amravati (An Autonomous Institute) Department of Artificial Intelligence and Data Science</dc:title>
  <dc:creator>sanjay</dc:creator>
  <cp:lastModifiedBy>Kasturi Bhogal</cp:lastModifiedBy>
  <cp:revision>2</cp:revision>
  <dcterms:created xsi:type="dcterms:W3CDTF">2025-07-19T19:31:00Z</dcterms:created>
  <dcterms:modified xsi:type="dcterms:W3CDTF">2025-07-20T08:01:03Z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1B1D9238A42045AAB661B81B826FB9EE_13</vt:lpwstr>
  </property>
  <property fmtid="{D5CDD505-2E9C-101B-9397-08002B2CF9AE}" pid="3" name="KSOProductBuildVer">
    <vt:lpwstr>1033-12.2.0.21931</vt:lpwstr>
  </property>
</Properties>
</file>